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8" r:id="rId4"/>
    <p:sldId id="260" r:id="rId5"/>
    <p:sldId id="257" r:id="rId6"/>
    <p:sldId id="259" r:id="rId7"/>
    <p:sldId id="261" r:id="rId8"/>
    <p:sldId id="265" r:id="rId9"/>
    <p:sldId id="266" r:id="rId10"/>
    <p:sldId id="262" r:id="rId11"/>
    <p:sldId id="267" r:id="rId12"/>
    <p:sldId id="268" r:id="rId13"/>
    <p:sldId id="269" r:id="rId14"/>
    <p:sldId id="272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DE37E-B4AA-48F0-93B9-C5B6D1281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786EC0-ACDF-480A-BCB4-330D9F41F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BB097-ED02-44A3-BC6D-B3DFBC4A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031C2-0D51-4029-8079-5274DBDB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1D9AD-B5F4-45F3-8287-DE9668E7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91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38BB2-2564-4907-8959-F05C420E8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662B9-9AE1-4F5B-A7D5-D5A46BEB4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5FDD0-B1D9-45E9-B033-0BAABF92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71F10-4735-4901-88A4-B365AA77E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2A0C3-08B6-4919-921E-F3EFAE58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597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B9E21-ABF2-4C54-94D1-2857D0A66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B3876-E93A-46F6-AE08-B86051D83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14166-B276-4007-B884-7235C4EBE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BF8AC-CA0F-4911-A16A-F78205371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66DE2-03D8-4F96-A06D-B0AA53B5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30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CCE2E-44A5-44B5-9FE0-156F587C7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05377-FC10-46A3-A79E-E7EAB377B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6253F-C880-4BA8-8E3B-2511C10F7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E0CA8-9A84-4227-8BDE-DB3599567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688EF-9E8E-486C-A7FC-4BCC4D5A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A3B91-4812-4532-9B74-AE89CB38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76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6790-A978-4A0E-8C62-80CF46B31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53CC9-B838-4120-AA49-0193B5BD3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E254A-619E-4264-BE15-3389E5A18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BBD8E-28C2-4BA5-B2C6-FCE602EFD5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FE8E1A-7B03-47A9-8441-F3B4AA3A03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3FF6D9-3D07-4C9F-A0D1-CE6B731C8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B84FC0-7165-4CC0-A0DB-5D6B6C417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1B567-86CC-4356-A8CF-0F595BCF3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2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5A3AD-615D-4ECC-8BEE-4A1667F18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9EB054-EF1F-4C5A-A5F7-C1E6D5BEE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F52AD-08A0-4355-91E5-28325D4F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89DD1-3A25-4456-8358-E80B4139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3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811B7B-BF0E-4A05-B66B-60FBBFA1F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5700B1-540D-40F6-88A0-51BA7267B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BB7D2-C3BE-4AC7-B13A-DD380F8B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00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F3807-B529-420C-887D-E1A96437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32683-31D6-410A-A9F5-D467A1317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DBD4F-FB44-4518-8629-B9C02A9A3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F6D37-B9F5-4522-A56E-8380B7AA9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2E1E4-C961-49BA-995B-EE14C998D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A2B4B-5E5C-41F2-AA2B-13ADCDC8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058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C9DC4-AB71-4F23-A62F-942479E42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FE8D3A-7256-4940-A7E4-285E95C236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BAF74-935D-4CF5-9005-B711904B4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ECC34-D158-4F9B-9A7E-77F603E3B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C850D-1B3E-45A4-A946-76463B22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43772-3A01-448E-A41A-7D6A8773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07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56C2-EF44-4AA3-B953-EC185E13F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34E6CF-2D7A-42AC-ACA9-2810DF913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50F21-E58B-4A6A-ACEA-0AF30852D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27828-EEEC-4B66-93B6-90360099F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A0507-DA70-4269-A53E-DE63F096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15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CD3628-1513-4274-AAA1-D71D5DE919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DEEEF0-B1AA-47E4-A92C-80F007475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E98A7-D888-48F7-9085-5FAC69C66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A9310-4B6C-4F38-BD4C-CCCE29E04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2F64F-8469-4018-A2EC-C76F199B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0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6CB229-0685-429B-A8F7-71AF4E5D7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D310D-0197-4F61-8CAE-91D19D481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B7EF7-93D0-4922-916B-6CEAF8736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E2F86-AB8E-45E4-9A72-4E0518A2FE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89E6C-34DF-4BC8-944D-4698386A9B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2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D023C5-8D2A-474C-AECE-2C8FB687A9CC}"/>
              </a:ext>
            </a:extLst>
          </p:cNvPr>
          <p:cNvSpPr txBox="1"/>
          <p:nvPr/>
        </p:nvSpPr>
        <p:spPr>
          <a:xfrm>
            <a:off x="6332376" y="4272714"/>
            <a:ext cx="5271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PowerPoint 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1B357A-EF0B-4496-8B61-8B0645AB9C79}"/>
              </a:ext>
            </a:extLst>
          </p:cNvPr>
          <p:cNvSpPr txBox="1"/>
          <p:nvPr/>
        </p:nvSpPr>
        <p:spPr>
          <a:xfrm>
            <a:off x="5449078" y="4795934"/>
            <a:ext cx="6895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Personal Phonebook &amp; Tower of Hanoi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1D7924-971C-43DD-A08C-C2A36810685A}"/>
              </a:ext>
            </a:extLst>
          </p:cNvPr>
          <p:cNvSpPr txBox="1"/>
          <p:nvPr/>
        </p:nvSpPr>
        <p:spPr>
          <a:xfrm>
            <a:off x="5610711" y="5257599"/>
            <a:ext cx="671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Kemayah Noel &amp; Giovanni Thompson</a:t>
            </a:r>
          </a:p>
        </p:txBody>
      </p:sp>
    </p:spTree>
    <p:extLst>
      <p:ext uri="{BB962C8B-B14F-4D97-AF65-F5344CB8AC3E}">
        <p14:creationId xmlns:p14="http://schemas.microsoft.com/office/powerpoint/2010/main" val="531158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9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DD59E-46A0-46F1-B036-647B5925F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" y="2333625"/>
            <a:ext cx="11477625" cy="2624138"/>
          </a:xfrm>
        </p:spPr>
        <p:txBody>
          <a:bodyPr>
            <a:noAutofit/>
          </a:bodyPr>
          <a:lstStyle/>
          <a:p>
            <a:r>
              <a:rPr lang="en-US" sz="8000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We Would look at the Personal Phonebook first</a:t>
            </a:r>
          </a:p>
        </p:txBody>
      </p:sp>
    </p:spTree>
    <p:extLst>
      <p:ext uri="{BB962C8B-B14F-4D97-AF65-F5344CB8AC3E}">
        <p14:creationId xmlns:p14="http://schemas.microsoft.com/office/powerpoint/2010/main" val="1829064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AF2A3D-25DB-4400-B1B5-E7CC3690CF8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8362953" y="2047965"/>
            <a:ext cx="1343022" cy="5999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AED6E2-BEF6-4AD7-9688-A64A26436E7F}"/>
              </a:ext>
            </a:extLst>
          </p:cNvPr>
          <p:cNvSpPr txBox="1"/>
          <p:nvPr/>
        </p:nvSpPr>
        <p:spPr>
          <a:xfrm>
            <a:off x="9705975" y="1447800"/>
            <a:ext cx="2486025" cy="12003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We found this idea by looking at things that could make things easier for us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9A7BE1-99C0-4E53-916C-AC909092FDFE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8039100" y="3676650"/>
            <a:ext cx="1257301" cy="2713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203D9E4-3F7F-4EDB-89D0-6A75DC6BDC1E}"/>
              </a:ext>
            </a:extLst>
          </p:cNvPr>
          <p:cNvSpPr txBox="1"/>
          <p:nvPr/>
        </p:nvSpPr>
        <p:spPr>
          <a:xfrm>
            <a:off x="9296401" y="3347814"/>
            <a:ext cx="2895600" cy="12003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Wouldn’t you like to see whose number you are dialing or have a digital version of your phonebook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496D94-9558-449E-A38F-7D92D539562A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219451" y="3084267"/>
            <a:ext cx="933450" cy="4590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83DFBEA-3B11-4328-B3D6-0D70C0292919}"/>
              </a:ext>
            </a:extLst>
          </p:cNvPr>
          <p:cNvSpPr txBox="1"/>
          <p:nvPr/>
        </p:nvSpPr>
        <p:spPr>
          <a:xfrm>
            <a:off x="0" y="2899601"/>
            <a:ext cx="3219451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Well this project has just that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BF6B39-2BCC-4B70-8815-7F3C0C650B1B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3219451" y="4399313"/>
            <a:ext cx="1257301" cy="220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421D65F-11A2-4F6A-A40F-34C5D9121470}"/>
              </a:ext>
            </a:extLst>
          </p:cNvPr>
          <p:cNvSpPr txBox="1"/>
          <p:nvPr/>
        </p:nvSpPr>
        <p:spPr>
          <a:xfrm>
            <a:off x="0" y="3937648"/>
            <a:ext cx="3219451" cy="9233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You can Sort the saved contacts from Ascending or Descending Order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D963D46-ECC4-4ECF-BB8F-AA3F329E9035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3219451" y="5170692"/>
            <a:ext cx="1371600" cy="1743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294BC8A-E585-4D66-961D-4BD67689E592}"/>
              </a:ext>
            </a:extLst>
          </p:cNvPr>
          <p:cNvSpPr txBox="1"/>
          <p:nvPr/>
        </p:nvSpPr>
        <p:spPr>
          <a:xfrm>
            <a:off x="0" y="5160361"/>
            <a:ext cx="3219451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You can also sort it by letters</a:t>
            </a:r>
          </a:p>
        </p:txBody>
      </p:sp>
    </p:spTree>
    <p:extLst>
      <p:ext uri="{BB962C8B-B14F-4D97-AF65-F5344CB8AC3E}">
        <p14:creationId xmlns:p14="http://schemas.microsoft.com/office/powerpoint/2010/main" val="3530695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FA455E-55E2-4CA4-A5E7-45A1057097F5}"/>
              </a:ext>
            </a:extLst>
          </p:cNvPr>
          <p:cNvSpPr/>
          <p:nvPr/>
        </p:nvSpPr>
        <p:spPr>
          <a:xfrm>
            <a:off x="6096001" y="9524"/>
            <a:ext cx="6095999" cy="2266951"/>
          </a:xfrm>
          <a:prstGeom prst="rect">
            <a:avLst/>
          </a:prstGeom>
          <a:solidFill>
            <a:schemeClr val="tx1">
              <a:lumMod val="65000"/>
              <a:lumOff val="35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Cooper Black" panose="0208090404030B020404" pitchFamily="18" charset="0"/>
              </a:rPr>
              <a:t>Sorting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02BABE-942C-4C7F-95FA-95EFAC4B25F3}"/>
              </a:ext>
            </a:extLst>
          </p:cNvPr>
          <p:cNvSpPr/>
          <p:nvPr/>
        </p:nvSpPr>
        <p:spPr>
          <a:xfrm>
            <a:off x="6095999" y="4543426"/>
            <a:ext cx="6095999" cy="2314574"/>
          </a:xfrm>
          <a:prstGeom prst="rect">
            <a:avLst/>
          </a:prstGeom>
          <a:solidFill>
            <a:schemeClr val="tx1">
              <a:lumMod val="65000"/>
              <a:lumOff val="35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Cooper Black" panose="0208090404030B020404" pitchFamily="18" charset="0"/>
              </a:rPr>
              <a:t>Listing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604D80-E6BC-47FF-BFF1-5E77B4B4FA13}"/>
              </a:ext>
            </a:extLst>
          </p:cNvPr>
          <p:cNvSpPr/>
          <p:nvPr/>
        </p:nvSpPr>
        <p:spPr>
          <a:xfrm>
            <a:off x="6096000" y="2276475"/>
            <a:ext cx="6095999" cy="2266951"/>
          </a:xfrm>
          <a:prstGeom prst="rect">
            <a:avLst/>
          </a:prstGeom>
          <a:solidFill>
            <a:schemeClr val="tx1">
              <a:lumMod val="65000"/>
              <a:lumOff val="35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Cooper Black" panose="0208090404030B020404" pitchFamily="18" charset="0"/>
              </a:rPr>
              <a:t>Searching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CF100D-51E4-44D5-931D-00EDBBAFE247}"/>
              </a:ext>
            </a:extLst>
          </p:cNvPr>
          <p:cNvSpPr txBox="1"/>
          <p:nvPr/>
        </p:nvSpPr>
        <p:spPr>
          <a:xfrm>
            <a:off x="323850" y="2571750"/>
            <a:ext cx="5915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roadway" panose="04040905080B02020502" pitchFamily="82" charset="0"/>
              </a:rPr>
              <a:t>The Phonebook has three functions</a:t>
            </a:r>
          </a:p>
        </p:txBody>
      </p:sp>
    </p:spTree>
    <p:extLst>
      <p:ext uri="{BB962C8B-B14F-4D97-AF65-F5344CB8AC3E}">
        <p14:creationId xmlns:p14="http://schemas.microsoft.com/office/powerpoint/2010/main" val="3599837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BAC662-D2F6-4F21-ACC7-A93282944C06}"/>
              </a:ext>
            </a:extLst>
          </p:cNvPr>
          <p:cNvSpPr/>
          <p:nvPr/>
        </p:nvSpPr>
        <p:spPr>
          <a:xfrm>
            <a:off x="1" y="3429000"/>
            <a:ext cx="4170948" cy="3429000"/>
          </a:xfrm>
          <a:prstGeom prst="rect">
            <a:avLst/>
          </a:prstGeom>
          <a:solidFill>
            <a:schemeClr val="accent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51BB60-6E41-4C0B-98BA-8748D97C93AA}"/>
              </a:ext>
            </a:extLst>
          </p:cNvPr>
          <p:cNvSpPr/>
          <p:nvPr/>
        </p:nvSpPr>
        <p:spPr>
          <a:xfrm>
            <a:off x="4010527" y="3429000"/>
            <a:ext cx="4170948" cy="3429000"/>
          </a:xfrm>
          <a:prstGeom prst="rect">
            <a:avLst/>
          </a:prstGeom>
          <a:solidFill>
            <a:schemeClr val="accent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66E929-4C95-4598-B602-29AA4ECE72A0}"/>
              </a:ext>
            </a:extLst>
          </p:cNvPr>
          <p:cNvSpPr/>
          <p:nvPr/>
        </p:nvSpPr>
        <p:spPr>
          <a:xfrm>
            <a:off x="8021053" y="3429000"/>
            <a:ext cx="4170948" cy="3429000"/>
          </a:xfrm>
          <a:prstGeom prst="rect">
            <a:avLst/>
          </a:prstGeom>
          <a:solidFill>
            <a:schemeClr val="accent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C41DDC-9D48-43B5-8B60-79522286F58A}"/>
              </a:ext>
            </a:extLst>
          </p:cNvPr>
          <p:cNvSpPr txBox="1"/>
          <p:nvPr/>
        </p:nvSpPr>
        <p:spPr>
          <a:xfrm>
            <a:off x="3400425" y="466725"/>
            <a:ext cx="19812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5E53CD-5570-42F9-B474-B45E7DFA9F39}"/>
              </a:ext>
            </a:extLst>
          </p:cNvPr>
          <p:cNvSpPr txBox="1"/>
          <p:nvPr/>
        </p:nvSpPr>
        <p:spPr>
          <a:xfrm>
            <a:off x="1094875" y="4248150"/>
            <a:ext cx="19812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3B8EDC-67CB-4EF0-8DE1-DFA6B3C4B37F}"/>
              </a:ext>
            </a:extLst>
          </p:cNvPr>
          <p:cNvSpPr txBox="1"/>
          <p:nvPr/>
        </p:nvSpPr>
        <p:spPr>
          <a:xfrm>
            <a:off x="3600951" y="1228725"/>
            <a:ext cx="76761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ritannic Bold" panose="020B0903060703020204" pitchFamily="34" charset="0"/>
              </a:rPr>
              <a:t>Personal Phonebook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58886D-D79F-4388-A01D-472ABA661237}"/>
              </a:ext>
            </a:extLst>
          </p:cNvPr>
          <p:cNvSpPr txBox="1"/>
          <p:nvPr/>
        </p:nvSpPr>
        <p:spPr>
          <a:xfrm>
            <a:off x="457201" y="3786485"/>
            <a:ext cx="3086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Uses time sort which is a combination of merge sort and insertion sort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F532B1-BCC6-4156-9C2D-39FB321A82E4}"/>
              </a:ext>
            </a:extLst>
          </p:cNvPr>
          <p:cNvSpPr txBox="1"/>
          <p:nvPr/>
        </p:nvSpPr>
        <p:spPr>
          <a:xfrm>
            <a:off x="457201" y="4972645"/>
            <a:ext cx="33051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The sorting part is handled by the JS file called phone.js which is an external JavaScript 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17C1F4-A96F-465F-9C09-F9850F662336}"/>
              </a:ext>
            </a:extLst>
          </p:cNvPr>
          <p:cNvSpPr txBox="1"/>
          <p:nvPr/>
        </p:nvSpPr>
        <p:spPr>
          <a:xfrm>
            <a:off x="4391025" y="3772316"/>
            <a:ext cx="35533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We used it because it is a stable sorting method and because of its sorting abilities.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4BF06A-FF52-4558-9461-E91B23A92C21}"/>
              </a:ext>
            </a:extLst>
          </p:cNvPr>
          <p:cNvSpPr txBox="1"/>
          <p:nvPr/>
        </p:nvSpPr>
        <p:spPr>
          <a:xfrm>
            <a:off x="4343651" y="5234106"/>
            <a:ext cx="35533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It has an excellent performance on partially sorted data.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79B4F7-A879-49BB-85CD-B15A80D0C83B}"/>
              </a:ext>
            </a:extLst>
          </p:cNvPr>
          <p:cNvSpPr txBox="1"/>
          <p:nvPr/>
        </p:nvSpPr>
        <p:spPr>
          <a:xfrm>
            <a:off x="8119437" y="3786485"/>
            <a:ext cx="413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The complexity of the sorting are: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1E996E-7578-4127-8BC3-327197415D5D}"/>
              </a:ext>
            </a:extLst>
          </p:cNvPr>
          <p:cNvSpPr txBox="1"/>
          <p:nvPr/>
        </p:nvSpPr>
        <p:spPr>
          <a:xfrm>
            <a:off x="8181475" y="4406384"/>
            <a:ext cx="413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Best = O(n)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DFFA3B-1D6B-4214-8414-8D37CB3373A1}"/>
              </a:ext>
            </a:extLst>
          </p:cNvPr>
          <p:cNvSpPr txBox="1"/>
          <p:nvPr/>
        </p:nvSpPr>
        <p:spPr>
          <a:xfrm>
            <a:off x="8181475" y="5143500"/>
            <a:ext cx="413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Average = O(n log 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6D9369-B4D8-4031-AD94-0BB5BDDFCEDE}"/>
              </a:ext>
            </a:extLst>
          </p:cNvPr>
          <p:cNvSpPr txBox="1"/>
          <p:nvPr/>
        </p:nvSpPr>
        <p:spPr>
          <a:xfrm>
            <a:off x="8181475" y="5906869"/>
            <a:ext cx="413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Worst = O(n log n)</a:t>
            </a:r>
          </a:p>
        </p:txBody>
      </p:sp>
    </p:spTree>
    <p:extLst>
      <p:ext uri="{BB962C8B-B14F-4D97-AF65-F5344CB8AC3E}">
        <p14:creationId xmlns:p14="http://schemas.microsoft.com/office/powerpoint/2010/main" val="1277518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1F8EDA-F34F-491D-8787-77522B23DE2B}"/>
              </a:ext>
            </a:extLst>
          </p:cNvPr>
          <p:cNvSpPr/>
          <p:nvPr/>
        </p:nvSpPr>
        <p:spPr>
          <a:xfrm>
            <a:off x="0" y="3800475"/>
            <a:ext cx="6096000" cy="3057525"/>
          </a:xfrm>
          <a:prstGeom prst="rect">
            <a:avLst/>
          </a:prstGeom>
          <a:gradFill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49000">
                <a:schemeClr val="accent5">
                  <a:satMod val="110000"/>
                  <a:lumMod val="100000"/>
                  <a:shade val="100000"/>
                  <a:alpha val="57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</a:gradFill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7445EF-9C4A-44CA-B6CD-44F1E613B30A}"/>
              </a:ext>
            </a:extLst>
          </p:cNvPr>
          <p:cNvSpPr/>
          <p:nvPr/>
        </p:nvSpPr>
        <p:spPr>
          <a:xfrm>
            <a:off x="6096000" y="3800475"/>
            <a:ext cx="6096000" cy="3057525"/>
          </a:xfrm>
          <a:prstGeom prst="rect">
            <a:avLst/>
          </a:prstGeom>
          <a:gradFill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49000">
                <a:schemeClr val="accent5">
                  <a:satMod val="110000"/>
                  <a:lumMod val="100000"/>
                  <a:shade val="100000"/>
                  <a:alpha val="57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</a:gradFill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8F3920D-F1B9-4AAE-9169-F6F8518F1D31}"/>
              </a:ext>
            </a:extLst>
          </p:cNvPr>
          <p:cNvSpPr/>
          <p:nvPr/>
        </p:nvSpPr>
        <p:spPr>
          <a:xfrm>
            <a:off x="2662237" y="3552825"/>
            <a:ext cx="771525" cy="704850"/>
          </a:xfrm>
          <a:prstGeom prst="ellipse">
            <a:avLst/>
          </a:prstGeom>
          <a:gradFill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49000">
                <a:schemeClr val="accent5">
                  <a:satMod val="110000"/>
                  <a:lumMod val="100000"/>
                  <a:shade val="100000"/>
                  <a:alpha val="57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</a:gradFill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AAF9BB4-D188-4D5D-B975-BE74CFDAAB35}"/>
              </a:ext>
            </a:extLst>
          </p:cNvPr>
          <p:cNvSpPr/>
          <p:nvPr/>
        </p:nvSpPr>
        <p:spPr>
          <a:xfrm>
            <a:off x="8882062" y="3552825"/>
            <a:ext cx="771525" cy="704850"/>
          </a:xfrm>
          <a:prstGeom prst="ellipse">
            <a:avLst/>
          </a:prstGeom>
          <a:gradFill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49000">
                <a:schemeClr val="accent5">
                  <a:satMod val="110000"/>
                  <a:lumMod val="100000"/>
                  <a:shade val="100000"/>
                  <a:alpha val="57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</a:gradFill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A3FFE4-2A6E-4783-A6E7-F42ABF8B2DD8}"/>
              </a:ext>
            </a:extLst>
          </p:cNvPr>
          <p:cNvSpPr txBox="1"/>
          <p:nvPr/>
        </p:nvSpPr>
        <p:spPr>
          <a:xfrm>
            <a:off x="523874" y="4370606"/>
            <a:ext cx="557212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The Alphabetical filter was setup and made in the JS file  under the heading ALPHABET FILTER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FF0EA2-42E0-4CBC-AEA4-530624AD0D6F}"/>
              </a:ext>
            </a:extLst>
          </p:cNvPr>
          <p:cNvSpPr txBox="1"/>
          <p:nvPr/>
        </p:nvSpPr>
        <p:spPr>
          <a:xfrm>
            <a:off x="6360317" y="4601557"/>
            <a:ext cx="62507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All functions are labeled in </a:t>
            </a:r>
            <a:r>
              <a:rPr lang="en-US" sz="3200" dirty="0" err="1">
                <a:solidFill>
                  <a:schemeClr val="bg1"/>
                </a:solidFill>
                <a:latin typeface="Algerian" panose="04020705040A02060702" pitchFamily="82" charset="0"/>
              </a:rPr>
              <a:t>JAVAscript</a:t>
            </a:r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3980575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9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3C8EEA-A8FF-43F1-A4A8-F9937FAFABB2}"/>
              </a:ext>
            </a:extLst>
          </p:cNvPr>
          <p:cNvSpPr txBox="1"/>
          <p:nvPr/>
        </p:nvSpPr>
        <p:spPr>
          <a:xfrm>
            <a:off x="1638298" y="800100"/>
            <a:ext cx="11868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Brush Script MT" panose="03060802040406070304" pitchFamily="66" charset="0"/>
              </a:rPr>
              <a:t>The Complexities of the Personal Phonebook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626FF29-8CA9-4C07-A46F-2350B173BC4A}"/>
              </a:ext>
            </a:extLst>
          </p:cNvPr>
          <p:cNvGrpSpPr/>
          <p:nvPr/>
        </p:nvGrpSpPr>
        <p:grpSpPr>
          <a:xfrm>
            <a:off x="10638" y="3381375"/>
            <a:ext cx="5539264" cy="3476625"/>
            <a:chOff x="76201" y="3314700"/>
            <a:chExt cx="3390899" cy="3476625"/>
          </a:xfrm>
          <a:solidFill>
            <a:schemeClr val="accent1">
              <a:lumMod val="50000"/>
              <a:alpha val="76000"/>
            </a:schemeClr>
          </a:solidFill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2" name="Rectangle: Diagonal Corners Rounded 1">
              <a:extLst>
                <a:ext uri="{FF2B5EF4-FFF2-40B4-BE49-F238E27FC236}">
                  <a16:creationId xmlns:a16="http://schemas.microsoft.com/office/drawing/2014/main" id="{D340E420-2E33-412A-956D-A55677511A73}"/>
                </a:ext>
              </a:extLst>
            </p:cNvPr>
            <p:cNvSpPr/>
            <p:nvPr/>
          </p:nvSpPr>
          <p:spPr>
            <a:xfrm>
              <a:off x="76201" y="3314700"/>
              <a:ext cx="3390899" cy="3476625"/>
            </a:xfrm>
            <a:prstGeom prst="round2DiagRect">
              <a:avLst/>
            </a:prstGeom>
            <a:grp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F2CD172-CBEA-4137-9745-459E017526E8}"/>
                </a:ext>
              </a:extLst>
            </p:cNvPr>
            <p:cNvSpPr txBox="1"/>
            <p:nvPr/>
          </p:nvSpPr>
          <p:spPr>
            <a:xfrm>
              <a:off x="499055" y="3751688"/>
              <a:ext cx="2305050" cy="369332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ritannic Bold" panose="020B0903060703020204" pitchFamily="34" charset="0"/>
                </a:rPr>
                <a:t>Time Complexity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3F3522-8DE3-4338-BFD8-C84FADF62BF2}"/>
                </a:ext>
              </a:extLst>
            </p:cNvPr>
            <p:cNvSpPr txBox="1"/>
            <p:nvPr/>
          </p:nvSpPr>
          <p:spPr>
            <a:xfrm>
              <a:off x="340516" y="4409301"/>
              <a:ext cx="2595563" cy="369332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ahnschrift SemiBold SemiConden" panose="020B0502040204020203" pitchFamily="34" charset="0"/>
                </a:rPr>
                <a:t>Searching = O (n)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14867AF-7A2D-4FD2-8110-A4CB9A1071C5}"/>
                </a:ext>
              </a:extLst>
            </p:cNvPr>
            <p:cNvSpPr txBox="1"/>
            <p:nvPr/>
          </p:nvSpPr>
          <p:spPr>
            <a:xfrm>
              <a:off x="201216" y="5640884"/>
              <a:ext cx="3140869" cy="369332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ahnschrift SemiBold SemiConden" panose="020B0502040204020203" pitchFamily="34" charset="0"/>
                </a:rPr>
                <a:t>Alphabet Filtering = O (n)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A878F6E-16CF-4F33-B728-55F48B839225}"/>
                </a:ext>
              </a:extLst>
            </p:cNvPr>
            <p:cNvSpPr txBox="1"/>
            <p:nvPr/>
          </p:nvSpPr>
          <p:spPr>
            <a:xfrm>
              <a:off x="447180" y="4989552"/>
              <a:ext cx="2408801" cy="369332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ahnschrift SemiBold SemiConden" panose="020B0502040204020203" pitchFamily="34" charset="0"/>
                </a:rPr>
                <a:t>Sorting= O (n log n)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B182EB-684F-4E8F-BA8C-5850F81AD844}"/>
              </a:ext>
            </a:extLst>
          </p:cNvPr>
          <p:cNvGrpSpPr/>
          <p:nvPr/>
        </p:nvGrpSpPr>
        <p:grpSpPr>
          <a:xfrm>
            <a:off x="6419871" y="3385066"/>
            <a:ext cx="5761491" cy="3476625"/>
            <a:chOff x="4644721" y="3381852"/>
            <a:chExt cx="3210431" cy="3476625"/>
          </a:xfrm>
          <a:solidFill>
            <a:schemeClr val="accent1">
              <a:lumMod val="50000"/>
              <a:alpha val="76000"/>
            </a:schemeClr>
          </a:solidFill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" name="Rectangle: Diagonal Corners Rounded 2">
              <a:extLst>
                <a:ext uri="{FF2B5EF4-FFF2-40B4-BE49-F238E27FC236}">
                  <a16:creationId xmlns:a16="http://schemas.microsoft.com/office/drawing/2014/main" id="{526C3A01-AD40-402B-8008-00B7A521814B}"/>
                </a:ext>
              </a:extLst>
            </p:cNvPr>
            <p:cNvSpPr/>
            <p:nvPr/>
          </p:nvSpPr>
          <p:spPr>
            <a:xfrm>
              <a:off x="4644721" y="3381852"/>
              <a:ext cx="3210431" cy="3476625"/>
            </a:xfrm>
            <a:prstGeom prst="round2DiagRect">
              <a:avLst/>
            </a:prstGeom>
            <a:grp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5FCA859-9280-4815-B4A9-40CCFFFF8A45}"/>
                </a:ext>
              </a:extLst>
            </p:cNvPr>
            <p:cNvSpPr txBox="1"/>
            <p:nvPr/>
          </p:nvSpPr>
          <p:spPr>
            <a:xfrm>
              <a:off x="5097411" y="3740796"/>
              <a:ext cx="2305050" cy="369332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ritannic Bold" panose="020B0903060703020204" pitchFamily="34" charset="0"/>
                </a:rPr>
                <a:t>Space Complexity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425B09-B3C6-4848-A896-F5D905CE6473}"/>
                </a:ext>
              </a:extLst>
            </p:cNvPr>
            <p:cNvSpPr txBox="1"/>
            <p:nvPr/>
          </p:nvSpPr>
          <p:spPr>
            <a:xfrm>
              <a:off x="4961495" y="4410552"/>
              <a:ext cx="2595563" cy="369332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ahnschrift SemiBold SemiConden" panose="020B0502040204020203" pitchFamily="34" charset="0"/>
                </a:rPr>
                <a:t>Searching = 0 (1)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D4B31AF-B30A-4D21-8283-AED5413CDA8A}"/>
                </a:ext>
              </a:extLst>
            </p:cNvPr>
            <p:cNvSpPr txBox="1"/>
            <p:nvPr/>
          </p:nvSpPr>
          <p:spPr>
            <a:xfrm>
              <a:off x="4878241" y="5004793"/>
              <a:ext cx="2595563" cy="369332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ahnschrift SemiBold SemiConden" panose="020B0502040204020203" pitchFamily="34" charset="0"/>
                </a:rPr>
                <a:t>Sorting = 0 (n)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06DEEB-2053-4889-97B2-4564A3D97DA6}"/>
                </a:ext>
              </a:extLst>
            </p:cNvPr>
            <p:cNvSpPr txBox="1"/>
            <p:nvPr/>
          </p:nvSpPr>
          <p:spPr>
            <a:xfrm>
              <a:off x="4961494" y="5593082"/>
              <a:ext cx="2595563" cy="369332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ahnschrift SemiBold SemiConden" panose="020B0502040204020203" pitchFamily="34" charset="0"/>
                </a:rPr>
                <a:t>Alphabet Filtering = 0 (1)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5D5D26-41BB-475B-B473-4765000A0AAF}"/>
                </a:ext>
              </a:extLst>
            </p:cNvPr>
            <p:cNvSpPr txBox="1"/>
            <p:nvPr/>
          </p:nvSpPr>
          <p:spPr>
            <a:xfrm>
              <a:off x="4961494" y="6181371"/>
              <a:ext cx="2595563" cy="369332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ahnschrift SemiBold SemiConden" panose="020B0502040204020203" pitchFamily="34" charset="0"/>
                </a:rPr>
                <a:t>DOM Storage = 0 (n)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6142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9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DD59E-46A0-46F1-B036-647B5925F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" y="2333625"/>
            <a:ext cx="11477625" cy="2624138"/>
          </a:xfrm>
        </p:spPr>
        <p:txBody>
          <a:bodyPr>
            <a:noAutofit/>
          </a:bodyPr>
          <a:lstStyle/>
          <a:p>
            <a:r>
              <a:rPr lang="en-US" sz="8000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Now to look at the Tower of Hanoi</a:t>
            </a:r>
          </a:p>
        </p:txBody>
      </p:sp>
    </p:spTree>
    <p:extLst>
      <p:ext uri="{BB962C8B-B14F-4D97-AF65-F5344CB8AC3E}">
        <p14:creationId xmlns:p14="http://schemas.microsoft.com/office/powerpoint/2010/main" val="3893314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AF2A3D-25DB-4400-B1B5-E7CC3690CF8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8362953" y="1909465"/>
            <a:ext cx="1343022" cy="7384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AED6E2-BEF6-4AD7-9688-A64A26436E7F}"/>
              </a:ext>
            </a:extLst>
          </p:cNvPr>
          <p:cNvSpPr txBox="1"/>
          <p:nvPr/>
        </p:nvSpPr>
        <p:spPr>
          <a:xfrm>
            <a:off x="9705975" y="1447800"/>
            <a:ext cx="2486025" cy="9233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We got this idea from sir when he talked about it in class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9A7BE1-99C0-4E53-916C-AC909092FDFE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8039101" y="3676651"/>
            <a:ext cx="1257300" cy="4098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203D9E4-3F7F-4EDB-89D0-6A75DC6BDC1E}"/>
              </a:ext>
            </a:extLst>
          </p:cNvPr>
          <p:cNvSpPr txBox="1"/>
          <p:nvPr/>
        </p:nvSpPr>
        <p:spPr>
          <a:xfrm>
            <a:off x="9296401" y="3347814"/>
            <a:ext cx="2895600" cy="14773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We thought how about making our own for our final project and have everything it asks of us for our grade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496D94-9558-449E-A38F-7D92D539562A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419475" y="3222767"/>
            <a:ext cx="733426" cy="3205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83DFBEA-3B11-4328-B3D6-0D70C0292919}"/>
              </a:ext>
            </a:extLst>
          </p:cNvPr>
          <p:cNvSpPr txBox="1"/>
          <p:nvPr/>
        </p:nvSpPr>
        <p:spPr>
          <a:xfrm>
            <a:off x="0" y="2899601"/>
            <a:ext cx="3419475" cy="6463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Well this project has a message when you solve the Tower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BF6B39-2BCC-4B70-8815-7F3C0C650B1B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3419475" y="4399313"/>
            <a:ext cx="1057277" cy="220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421D65F-11A2-4F6A-A40F-34C5D9121470}"/>
              </a:ext>
            </a:extLst>
          </p:cNvPr>
          <p:cNvSpPr txBox="1"/>
          <p:nvPr/>
        </p:nvSpPr>
        <p:spPr>
          <a:xfrm>
            <a:off x="0" y="3937648"/>
            <a:ext cx="3419475" cy="9233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It has different colors like the real deal and you can pick how many pieces you want from 3-7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D963D46-ECC4-4ECF-BB8F-AA3F329E9035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3219451" y="5170692"/>
            <a:ext cx="1371600" cy="1743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294BC8A-E585-4D66-961D-4BD67689E592}"/>
              </a:ext>
            </a:extLst>
          </p:cNvPr>
          <p:cNvSpPr txBox="1"/>
          <p:nvPr/>
        </p:nvSpPr>
        <p:spPr>
          <a:xfrm>
            <a:off x="0" y="5160361"/>
            <a:ext cx="3219451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It implements Drag and Drop </a:t>
            </a:r>
          </a:p>
        </p:txBody>
      </p:sp>
    </p:spTree>
    <p:extLst>
      <p:ext uri="{BB962C8B-B14F-4D97-AF65-F5344CB8AC3E}">
        <p14:creationId xmlns:p14="http://schemas.microsoft.com/office/powerpoint/2010/main" val="333218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B06A0E-D8D9-4652-BE13-FC337B27B266}"/>
              </a:ext>
            </a:extLst>
          </p:cNvPr>
          <p:cNvSpPr/>
          <p:nvPr/>
        </p:nvSpPr>
        <p:spPr>
          <a:xfrm>
            <a:off x="0" y="4010025"/>
            <a:ext cx="6296025" cy="2847975"/>
          </a:xfrm>
          <a:prstGeom prst="rect">
            <a:avLst/>
          </a:prstGeom>
          <a:solidFill>
            <a:schemeClr val="accent1">
              <a:lumMod val="5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Cooper Black" panose="0208090404030B020404" pitchFamily="18" charset="0"/>
              </a:rPr>
              <a:t>Drag &amp; Drop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036285-F750-41F8-990F-3EDF944893B9}"/>
              </a:ext>
            </a:extLst>
          </p:cNvPr>
          <p:cNvSpPr/>
          <p:nvPr/>
        </p:nvSpPr>
        <p:spPr>
          <a:xfrm>
            <a:off x="6296025" y="4010025"/>
            <a:ext cx="5895975" cy="2847975"/>
          </a:xfrm>
          <a:prstGeom prst="rect">
            <a:avLst/>
          </a:prstGeom>
          <a:solidFill>
            <a:schemeClr val="accent1">
              <a:lumMod val="5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Cooper Black" panose="0208090404030B020404" pitchFamily="18" charset="0"/>
              </a:rPr>
              <a:t>JavaScript Call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CE4274-5E67-4B64-B77F-2CBBAE467E2B}"/>
              </a:ext>
            </a:extLst>
          </p:cNvPr>
          <p:cNvSpPr txBox="1"/>
          <p:nvPr/>
        </p:nvSpPr>
        <p:spPr>
          <a:xfrm>
            <a:off x="2695575" y="1171574"/>
            <a:ext cx="8458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roadway" panose="04040905080B02020502" pitchFamily="82" charset="0"/>
              </a:rPr>
              <a:t>The Tower of Hanoi has Two Functions</a:t>
            </a:r>
          </a:p>
        </p:txBody>
      </p:sp>
    </p:spTree>
    <p:extLst>
      <p:ext uri="{BB962C8B-B14F-4D97-AF65-F5344CB8AC3E}">
        <p14:creationId xmlns:p14="http://schemas.microsoft.com/office/powerpoint/2010/main" val="3959536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F9576B-620C-41A7-BCFC-A217C6BB687A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D9C4E3-1D32-4B21-A6FB-DF9523A67E6E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4D1B63-B77F-4531-B71B-309BB250C8D8}"/>
              </a:ext>
            </a:extLst>
          </p:cNvPr>
          <p:cNvSpPr txBox="1"/>
          <p:nvPr/>
        </p:nvSpPr>
        <p:spPr>
          <a:xfrm>
            <a:off x="252412" y="4549676"/>
            <a:ext cx="5591176" cy="2308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Used to drag the disks which are used to play the Tower of Hanoi.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A7F60-3263-4940-9BE5-A979917B2E9B}"/>
              </a:ext>
            </a:extLst>
          </p:cNvPr>
          <p:cNvSpPr txBox="1"/>
          <p:nvPr/>
        </p:nvSpPr>
        <p:spPr>
          <a:xfrm>
            <a:off x="6510338" y="3995678"/>
            <a:ext cx="5429250" cy="2862322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Has a call function where it calls it when you complete the tower of Hanoi to let you know you have completed it.</a:t>
            </a:r>
          </a:p>
        </p:txBody>
      </p:sp>
    </p:spTree>
    <p:extLst>
      <p:ext uri="{BB962C8B-B14F-4D97-AF65-F5344CB8AC3E}">
        <p14:creationId xmlns:p14="http://schemas.microsoft.com/office/powerpoint/2010/main" val="3068580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9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43DD42-131E-4621-BBFF-A85659452396}"/>
              </a:ext>
            </a:extLst>
          </p:cNvPr>
          <p:cNvSpPr txBox="1"/>
          <p:nvPr/>
        </p:nvSpPr>
        <p:spPr>
          <a:xfrm>
            <a:off x="2342147" y="721894"/>
            <a:ext cx="75077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The Complexities</a:t>
            </a:r>
            <a:endParaRPr lang="en-GD" sz="6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6B2492-0C3D-495A-9AD0-39C6750F9C15}"/>
              </a:ext>
            </a:extLst>
          </p:cNvPr>
          <p:cNvSpPr/>
          <p:nvPr/>
        </p:nvSpPr>
        <p:spPr>
          <a:xfrm>
            <a:off x="0" y="3429000"/>
            <a:ext cx="6172200" cy="3429000"/>
          </a:xfrm>
          <a:prstGeom prst="rect">
            <a:avLst/>
          </a:prstGeom>
          <a:blipFill dpi="0" rotWithShape="1">
            <a:blip r:embed="rId3">
              <a:alphaModFix amt="7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FC44AA-A84B-4A34-A567-39A420EEC453}"/>
              </a:ext>
            </a:extLst>
          </p:cNvPr>
          <p:cNvSpPr/>
          <p:nvPr/>
        </p:nvSpPr>
        <p:spPr>
          <a:xfrm>
            <a:off x="6172200" y="3429000"/>
            <a:ext cx="6019800" cy="3429000"/>
          </a:xfrm>
          <a:prstGeom prst="rect">
            <a:avLst/>
          </a:prstGeom>
          <a:blipFill dpi="0" rotWithShape="1">
            <a:blip r:embed="rId4">
              <a:alphaModFix amt="9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031DD1-4742-43D7-9DAE-511497ED49CD}"/>
              </a:ext>
            </a:extLst>
          </p:cNvPr>
          <p:cNvSpPr txBox="1"/>
          <p:nvPr/>
        </p:nvSpPr>
        <p:spPr>
          <a:xfrm>
            <a:off x="1552851" y="3903024"/>
            <a:ext cx="3489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Time Complexity</a:t>
            </a:r>
            <a:endParaRPr lang="en-GD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2CDC96-1A12-412B-B95B-8AD269FC2571}"/>
              </a:ext>
            </a:extLst>
          </p:cNvPr>
          <p:cNvSpPr txBox="1"/>
          <p:nvPr/>
        </p:nvSpPr>
        <p:spPr>
          <a:xfrm>
            <a:off x="8199156" y="3753853"/>
            <a:ext cx="3066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Space Complexity</a:t>
            </a:r>
            <a:endParaRPr lang="en-GD" sz="20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F92C32-781F-47FA-9EE4-4F6E72231912}"/>
              </a:ext>
            </a:extLst>
          </p:cNvPr>
          <p:cNvSpPr txBox="1"/>
          <p:nvPr/>
        </p:nvSpPr>
        <p:spPr>
          <a:xfrm>
            <a:off x="1552851" y="4445565"/>
            <a:ext cx="4092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Setup Game = O (n)</a:t>
            </a:r>
            <a:endParaRPr lang="en-G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1E81E-EF0A-42FB-A005-CF4B6BE07280}"/>
              </a:ext>
            </a:extLst>
          </p:cNvPr>
          <p:cNvSpPr txBox="1"/>
          <p:nvPr/>
        </p:nvSpPr>
        <p:spPr>
          <a:xfrm>
            <a:off x="1615350" y="4939124"/>
            <a:ext cx="4092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Move = O (1)</a:t>
            </a:r>
            <a:endParaRPr lang="en-G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60670-2DDE-43B4-A791-AE83C088EA81}"/>
              </a:ext>
            </a:extLst>
          </p:cNvPr>
          <p:cNvSpPr txBox="1"/>
          <p:nvPr/>
        </p:nvSpPr>
        <p:spPr>
          <a:xfrm>
            <a:off x="1051471" y="5529230"/>
            <a:ext cx="485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Theoretical Hanoi Algorithm = O (2n)</a:t>
            </a:r>
            <a:endParaRPr lang="en-G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9686A7-9C23-4BF8-943C-445E1C2AC1B4}"/>
              </a:ext>
            </a:extLst>
          </p:cNvPr>
          <p:cNvSpPr txBox="1"/>
          <p:nvPr/>
        </p:nvSpPr>
        <p:spPr>
          <a:xfrm>
            <a:off x="8199156" y="4461103"/>
            <a:ext cx="3783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Setup Game = O (n)</a:t>
            </a:r>
            <a:endParaRPr lang="en-GD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E99D1D-79CA-4535-9F70-43286729A30D}"/>
              </a:ext>
            </a:extLst>
          </p:cNvPr>
          <p:cNvSpPr txBox="1"/>
          <p:nvPr/>
        </p:nvSpPr>
        <p:spPr>
          <a:xfrm>
            <a:off x="8199156" y="5001400"/>
            <a:ext cx="3783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User Move = O (1)</a:t>
            </a:r>
            <a:endParaRPr lang="en-GD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722642-B993-4FE3-A74A-C4868DB26793}"/>
              </a:ext>
            </a:extLst>
          </p:cNvPr>
          <p:cNvSpPr txBox="1"/>
          <p:nvPr/>
        </p:nvSpPr>
        <p:spPr>
          <a:xfrm>
            <a:off x="7958233" y="5635306"/>
            <a:ext cx="3783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Theorical Hanoi Algorithm = O (1)</a:t>
            </a:r>
            <a:endParaRPr lang="en-GD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865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3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90E8E8-9108-4ED8-8A74-288CCD9A6359}"/>
              </a:ext>
            </a:extLst>
          </p:cNvPr>
          <p:cNvSpPr txBox="1"/>
          <p:nvPr/>
        </p:nvSpPr>
        <p:spPr>
          <a:xfrm>
            <a:off x="2152261" y="4450703"/>
            <a:ext cx="9109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Britannic Bold" panose="020B0903060703020204" pitchFamily="34" charset="0"/>
              </a:rPr>
              <a:t>That’s all Thank You</a:t>
            </a:r>
            <a:endParaRPr lang="en-GD" sz="7200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838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2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9752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E8699B-4D1F-49D8-B13A-2B203C375499}"/>
              </a:ext>
            </a:extLst>
          </p:cNvPr>
          <p:cNvSpPr/>
          <p:nvPr/>
        </p:nvSpPr>
        <p:spPr>
          <a:xfrm>
            <a:off x="0" y="0"/>
            <a:ext cx="5794310" cy="6858000"/>
          </a:xfrm>
          <a:prstGeom prst="rect">
            <a:avLst/>
          </a:prstGeom>
          <a:blipFill>
            <a:blip r:embed="rId2">
              <a:alphaModFix amt="82000"/>
            </a:blip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EF8E9A-8B55-4800-96BE-1A15F0DE494B}"/>
              </a:ext>
            </a:extLst>
          </p:cNvPr>
          <p:cNvSpPr/>
          <p:nvPr/>
        </p:nvSpPr>
        <p:spPr>
          <a:xfrm>
            <a:off x="5794310" y="0"/>
            <a:ext cx="6397690" cy="6858000"/>
          </a:xfrm>
          <a:prstGeom prst="rect">
            <a:avLst/>
          </a:prstGeom>
          <a:blipFill dpi="0" rotWithShape="1">
            <a:blip r:embed="rId3">
              <a:alphaModFix amt="8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9AE31B-EB01-4D8C-8D91-DB859ACDDBE1}"/>
              </a:ext>
            </a:extLst>
          </p:cNvPr>
          <p:cNvSpPr txBox="1"/>
          <p:nvPr/>
        </p:nvSpPr>
        <p:spPr>
          <a:xfrm>
            <a:off x="6428792" y="220926"/>
            <a:ext cx="43573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Slow</a:t>
            </a:r>
            <a:endParaRPr lang="en-GD" sz="72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DBDA7A-D8C1-4BD2-890E-CDEC271A26A2}"/>
              </a:ext>
            </a:extLst>
          </p:cNvPr>
          <p:cNvSpPr txBox="1"/>
          <p:nvPr/>
        </p:nvSpPr>
        <p:spPr>
          <a:xfrm>
            <a:off x="633121" y="220926"/>
            <a:ext cx="43573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Fast</a:t>
            </a:r>
            <a:endParaRPr lang="en-GD" sz="7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8AF50-DE61-416C-9965-9ED12EC9488A}"/>
              </a:ext>
            </a:extLst>
          </p:cNvPr>
          <p:cNvSpPr txBox="1"/>
          <p:nvPr/>
        </p:nvSpPr>
        <p:spPr>
          <a:xfrm>
            <a:off x="494522" y="1670180"/>
            <a:ext cx="37042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O(1) Constant</a:t>
            </a:r>
            <a:endParaRPr lang="en-GD" sz="4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CF9AE-1807-4D62-B633-52C58D032664}"/>
              </a:ext>
            </a:extLst>
          </p:cNvPr>
          <p:cNvSpPr txBox="1"/>
          <p:nvPr/>
        </p:nvSpPr>
        <p:spPr>
          <a:xfrm>
            <a:off x="404228" y="3128849"/>
            <a:ext cx="51538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O(log n) Logarithmic</a:t>
            </a:r>
            <a:endParaRPr lang="en-GD" sz="4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890090-8939-47CF-B702-09927E224D00}"/>
              </a:ext>
            </a:extLst>
          </p:cNvPr>
          <p:cNvSpPr txBox="1"/>
          <p:nvPr/>
        </p:nvSpPr>
        <p:spPr>
          <a:xfrm>
            <a:off x="6428792" y="1686832"/>
            <a:ext cx="50363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O(n log n) Log-linear</a:t>
            </a:r>
            <a:endParaRPr lang="en-GD" sz="4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8C95D0-D3DD-4AEF-A6D8-9CA0D46D5946}"/>
              </a:ext>
            </a:extLst>
          </p:cNvPr>
          <p:cNvSpPr txBox="1"/>
          <p:nvPr/>
        </p:nvSpPr>
        <p:spPr>
          <a:xfrm>
            <a:off x="6428792" y="3113061"/>
            <a:ext cx="53691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O (n^2) Quadratic</a:t>
            </a:r>
            <a:endParaRPr lang="en-GD" sz="4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038F0B-DCB0-46D9-9C89-7324A17F26EF}"/>
              </a:ext>
            </a:extLst>
          </p:cNvPr>
          <p:cNvSpPr txBox="1"/>
          <p:nvPr/>
        </p:nvSpPr>
        <p:spPr>
          <a:xfrm>
            <a:off x="6428792" y="4497811"/>
            <a:ext cx="37042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O (n1) Factorial </a:t>
            </a:r>
            <a:endParaRPr lang="en-GD" sz="4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48CA33-ECB8-4DEE-B968-0D1922F258FD}"/>
              </a:ext>
            </a:extLst>
          </p:cNvPr>
          <p:cNvSpPr txBox="1"/>
          <p:nvPr/>
        </p:nvSpPr>
        <p:spPr>
          <a:xfrm>
            <a:off x="494522" y="4497812"/>
            <a:ext cx="37042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O(n) Linear</a:t>
            </a:r>
            <a:endParaRPr lang="en-GD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967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8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E8699B-4D1F-49D8-B13A-2B203C375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DBDA7A-D8C1-4BD2-890E-CDEC271A26A2}"/>
              </a:ext>
            </a:extLst>
          </p:cNvPr>
          <p:cNvSpPr txBox="1"/>
          <p:nvPr/>
        </p:nvSpPr>
        <p:spPr>
          <a:xfrm>
            <a:off x="802429" y="698838"/>
            <a:ext cx="109799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rial Black" panose="020B0A04020102020204" pitchFamily="34" charset="0"/>
              </a:rPr>
              <a:t>Time Complexity That was Used</a:t>
            </a:r>
            <a:endParaRPr lang="en-GD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8AF50-DE61-416C-9965-9ED12EC9488A}"/>
              </a:ext>
            </a:extLst>
          </p:cNvPr>
          <p:cNvSpPr txBox="1"/>
          <p:nvPr/>
        </p:nvSpPr>
        <p:spPr>
          <a:xfrm>
            <a:off x="802428" y="1991485"/>
            <a:ext cx="515069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sz="4400" b="1" i="0" dirty="0">
                <a:solidFill>
                  <a:schemeClr val="bg1"/>
                </a:solidFill>
                <a:effectLst/>
                <a:latin typeface="-apple-system"/>
              </a:rPr>
              <a:t>Linear Time: O(n)</a:t>
            </a:r>
          </a:p>
          <a:p>
            <a:br>
              <a:rPr lang="en-US" sz="2400" dirty="0"/>
            </a:br>
            <a:endParaRPr lang="en-GD"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27940-A862-446F-864D-8E628493568D}"/>
              </a:ext>
            </a:extLst>
          </p:cNvPr>
          <p:cNvSpPr txBox="1"/>
          <p:nvPr/>
        </p:nvSpPr>
        <p:spPr>
          <a:xfrm>
            <a:off x="802428" y="3027521"/>
            <a:ext cx="63889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pt-BR" sz="4400" b="1" i="0" dirty="0">
                <a:solidFill>
                  <a:schemeClr val="bg1"/>
                </a:solidFill>
                <a:effectLst/>
                <a:latin typeface="-apple-system"/>
              </a:rPr>
              <a:t>Logarithm Time: O(log n)</a:t>
            </a:r>
          </a:p>
          <a:p>
            <a:br>
              <a:rPr lang="pt-BR" dirty="0"/>
            </a:br>
            <a:endParaRPr lang="en-G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1BB93A-6987-4A26-B1AB-A8E1809B0BA1}"/>
              </a:ext>
            </a:extLst>
          </p:cNvPr>
          <p:cNvSpPr txBox="1"/>
          <p:nvPr/>
        </p:nvSpPr>
        <p:spPr>
          <a:xfrm>
            <a:off x="802428" y="4019580"/>
            <a:ext cx="578886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pt-BR" sz="4400" b="1" i="0" dirty="0">
                <a:solidFill>
                  <a:schemeClr val="bg1"/>
                </a:solidFill>
                <a:effectLst/>
                <a:latin typeface="-apple-system"/>
              </a:rPr>
              <a:t>Quadratic Time: O(n^2)</a:t>
            </a:r>
          </a:p>
          <a:p>
            <a:br>
              <a:rPr lang="pt-BR" dirty="0"/>
            </a:br>
            <a:br>
              <a:rPr lang="pt-BR" dirty="0"/>
            </a:br>
            <a:endParaRPr lang="en-GD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3F78B7-A4B0-40CB-919C-C9364B00F2C6}"/>
              </a:ext>
            </a:extLst>
          </p:cNvPr>
          <p:cNvSpPr txBox="1"/>
          <p:nvPr/>
        </p:nvSpPr>
        <p:spPr>
          <a:xfrm>
            <a:off x="802428" y="5109983"/>
            <a:ext cx="578886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pt-BR" sz="4400" b="1" i="0" dirty="0">
                <a:solidFill>
                  <a:schemeClr val="bg1"/>
                </a:solidFill>
                <a:effectLst/>
                <a:latin typeface="-apple-system"/>
              </a:rPr>
              <a:t>Log-Linear: O(n log n)</a:t>
            </a:r>
          </a:p>
          <a:p>
            <a:br>
              <a:rPr lang="pt-BR" dirty="0"/>
            </a:br>
            <a:br>
              <a:rPr lang="pt-BR" dirty="0"/>
            </a:br>
            <a:endParaRPr lang="en-G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B0D410-E4FE-4A5B-A6C1-C579898450E4}"/>
              </a:ext>
            </a:extLst>
          </p:cNvPr>
          <p:cNvSpPr txBox="1"/>
          <p:nvPr/>
        </p:nvSpPr>
        <p:spPr>
          <a:xfrm>
            <a:off x="802428" y="6124009"/>
            <a:ext cx="578886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pt-BR" sz="4400" b="1" i="0" dirty="0">
                <a:solidFill>
                  <a:schemeClr val="bg1"/>
                </a:solidFill>
                <a:effectLst/>
                <a:latin typeface="-apple-system"/>
              </a:rPr>
              <a:t>Constant: O(1)</a:t>
            </a:r>
          </a:p>
          <a:p>
            <a:br>
              <a:rPr lang="pt-BR" dirty="0"/>
            </a:br>
            <a:br>
              <a:rPr lang="pt-BR" dirty="0"/>
            </a:br>
            <a:endParaRPr lang="en-GD" dirty="0"/>
          </a:p>
        </p:txBody>
      </p:sp>
    </p:spTree>
    <p:extLst>
      <p:ext uri="{BB962C8B-B14F-4D97-AF65-F5344CB8AC3E}">
        <p14:creationId xmlns:p14="http://schemas.microsoft.com/office/powerpoint/2010/main" val="757925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528</Words>
  <Application>Microsoft Office PowerPoint</Application>
  <PresentationFormat>Widescreen</PresentationFormat>
  <Paragraphs>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Algerian</vt:lpstr>
      <vt:lpstr>-apple-system</vt:lpstr>
      <vt:lpstr>Arial</vt:lpstr>
      <vt:lpstr>Arial Black</vt:lpstr>
      <vt:lpstr>Bahnschrift SemiBold SemiConden</vt:lpstr>
      <vt:lpstr>Britannic Bold</vt:lpstr>
      <vt:lpstr>Broadway</vt:lpstr>
      <vt:lpstr>Brush Script MT</vt:lpstr>
      <vt:lpstr>Calibri</vt:lpstr>
      <vt:lpstr>Calibri Light</vt:lpstr>
      <vt:lpstr>Cooper Black</vt:lpstr>
      <vt:lpstr>Office Theme</vt:lpstr>
      <vt:lpstr>PowerPoint Presentation</vt:lpstr>
      <vt:lpstr>We Would look at the Personal Phonebook first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Now to look at the Tower of Hanoi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Kemayah Noel</dc:creator>
  <cp:lastModifiedBy>Kemayah Noel</cp:lastModifiedBy>
  <cp:revision>19</cp:revision>
  <dcterms:created xsi:type="dcterms:W3CDTF">2025-12-04T13:06:01Z</dcterms:created>
  <dcterms:modified xsi:type="dcterms:W3CDTF">2025-12-04T18:42:37Z</dcterms:modified>
</cp:coreProperties>
</file>